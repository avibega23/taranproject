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F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00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9AEC0"/>
                </a:solidFill>
                <a:latin typeface="Calibri"/>
              </a:rPr>
              <a:t>PUNJABI UNIVERSITY, PATIALA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62000"/>
            <a:ext cx="10000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9AEC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76400"/>
            <a:ext cx="9000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FindIt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90800"/>
            <a:ext cx="950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2D5E0"/>
                </a:solidFill>
                <a:latin typeface="Calibri"/>
              </a:rPr>
              <a:t>Smart campus lost &amp; found — report, match, and reunite belongings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52800"/>
            <a:ext cx="9000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9FD0C0"/>
                </a:solidFill>
                <a:latin typeface="Calibri"/>
              </a:rPr>
              <a:t>MINOR PROJECT  |  WEB DEV / FULL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91000"/>
            <a:ext cx="9500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Presented by Taran Singh (12401067)  ·  Prince (12401062)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5000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9AEC0"/>
                </a:solidFill>
                <a:latin typeface="Calibri"/>
              </a:rPr>
              <a:t>B.Tech CSE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43500"/>
            <a:ext cx="9000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FD0C0"/>
                </a:solidFill>
                <a:latin typeface="Calibri"/>
              </a:rPr>
              <a:t>Under the guidance of Dr. Harpreet Kaur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9AEC0"/>
                </a:solidFill>
                <a:latin typeface="Calibri"/>
              </a:rPr>
              <a:t>FindIt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A9AEC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00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72033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4953000" cy="4200000"/>
          </a:xfrm>
          <a:prstGeom prst="rect">
            <a:avLst/>
          </a:prstGeom>
          <a:solidFill>
            <a:srgbClr val="F7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0" y="1371600"/>
            <a:ext cx="4953000" cy="42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5240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CF674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981200"/>
            <a:ext cx="4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2033"/>
                </a:solidFill>
                <a:latin typeface="Calibri"/>
              </a:rPr>
              <a:t>The Real-World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590800"/>
            <a:ext cx="45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596579"/>
                </a:solidFill>
                <a:latin typeface="Calibri"/>
              </a:rPr>
              <a:t>Lost items are announced in scattered chats and notice boards.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96579"/>
                </a:solidFill>
                <a:latin typeface="Calibri"/>
              </a:rPr>
              <a:t>Posts are hard to search and easy to miss.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96579"/>
                </a:solidFill>
                <a:latin typeface="Calibri"/>
              </a:rPr>
              <a:t>Private identifying details often end up in public threads.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15240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6B5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1981200"/>
            <a:ext cx="4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2033"/>
                </a:solidFill>
                <a:latin typeface="Calibri"/>
              </a:rPr>
              <a:t>The Need for a Simple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2590800"/>
            <a:ext cx="45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596579"/>
                </a:solidFill>
                <a:latin typeface="Calibri"/>
              </a:rPr>
              <a:t>One searchable place for lost and found reports.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96579"/>
                </a:solidFill>
                <a:latin typeface="Calibri"/>
              </a:rPr>
              <a:t>Explainable match suggestions between opposite-type reports.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96579"/>
                </a:solidFill>
                <a:latin typeface="Calibri"/>
              </a:rPr>
              <a:t>Claims and moderation that keep ownership proof private.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00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72033"/>
                </a:solidFill>
                <a:latin typeface="Calibri"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3200400" cy="40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15240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6B5A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133600"/>
            <a:ext cx="28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Calibri"/>
              </a:rPr>
              <a:t>Prepare Trustworthy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048000"/>
            <a:ext cx="2800000" cy="2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Collect and moderate lost/found reports suitable for campus search and recovery.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1000" y="1371600"/>
            <a:ext cx="3200400" cy="40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5240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6B5A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133600"/>
            <a:ext cx="28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Calibri"/>
              </a:rPr>
              <a:t>Learn Useful Similarities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048000"/>
            <a:ext cx="2800000" cy="2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Score opposite-type reports with category, text, location, and date signals — and explain why.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6200" y="1371600"/>
            <a:ext cx="3200400" cy="40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8600" y="15240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6B5A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8600" y="2133600"/>
            <a:ext cx="28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Calibri"/>
              </a:rPr>
              <a:t>Make It Accessible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8600" y="3048000"/>
            <a:ext cx="2800000" cy="2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Ship a Next.js app anyone can use: browse, report, claim, and administer without calling the API by hand.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0000"/>
            <a:ext cx="9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Calibri"/>
              </a:rPr>
              <a:t>Data Model &amp; 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0000"/>
            <a:ext cx="10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96579"/>
                </a:solidFill>
                <a:latin typeface="Calibri"/>
              </a:rPr>
              <a:t>Five MongoDB collections power the recovery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00000"/>
            <a:ext cx="10668000" cy="457200"/>
          </a:xfrm>
          <a:prstGeom prst="rect">
            <a:avLst/>
          </a:prstGeom>
          <a:solidFill>
            <a:srgbClr val="1F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400000"/>
            <a:ext cx="25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0000" y="1400000"/>
            <a:ext cx="25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000" y="1400000"/>
            <a:ext cx="25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0000" y="1400000"/>
            <a:ext cx="25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What it represents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757200"/>
            <a:ext cx="10668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9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0000" y="19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000" y="19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asha.menon@campus.example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0000" y="19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Student or administrator account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457200"/>
            <a:ext cx="10668000" cy="7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26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0000" y="26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Document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000" y="26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hashed cookie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0000" y="26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Signed-in browser session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157200"/>
            <a:ext cx="10668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33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Item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0000" y="33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000" y="33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Lost earbuds · approved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0000" y="33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Lost or found report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857200"/>
            <a:ext cx="10668000" cy="7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000" y="40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Claim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0000" y="40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Document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000" y="40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pending → approved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0000" y="40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Ownership request on a found item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557200"/>
            <a:ext cx="10668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000" y="47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ActivityLog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00000" y="47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Document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000" y="47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approve_item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00000" y="47372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Calibri"/>
              </a:rPr>
              <a:t>Moderation and claim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Calibri"/>
              </a:rPr>
              <a:t>How Each Signal Relates to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0000"/>
            <a:ext cx="9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96579"/>
                </a:solidFill>
                <a:latin typeface="Calibri"/>
              </a:rPr>
              <a:t>Why these four match inputs were chosen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00000"/>
            <a:ext cx="10668000" cy="457200"/>
          </a:xfrm>
          <a:prstGeom prst="rect">
            <a:avLst/>
          </a:prstGeom>
          <a:solidFill>
            <a:srgbClr val="1F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400000"/>
            <a:ext cx="28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0000" y="1400000"/>
            <a:ext cx="28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Represents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000" y="1400000"/>
            <a:ext cx="28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Expected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0000" y="1400000"/>
            <a:ext cx="28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757200"/>
            <a:ext cx="10668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0072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Calibri"/>
              </a:rP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0000" y="20072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Calibri"/>
              </a:rPr>
              <a:t>Item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000" y="20072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Calibri"/>
              </a:rPr>
              <a:t>Same class pairs are likelier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0000" y="20072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Calibri"/>
              </a:rPr>
              <a:t>Strong, simple gate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657200"/>
            <a:ext cx="10668000" cy="9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29072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Calibri"/>
              </a:rPr>
              <a:t>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0000" y="29072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Calibri"/>
              </a:rPr>
              <a:t>Title + description 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000" y="29072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Calibri"/>
              </a:rPr>
              <a:t>Objects are named similarly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0000" y="29072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Calibri"/>
              </a:rPr>
              <a:t>Catches shared keywords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557200"/>
            <a:ext cx="10668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38072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Calibri"/>
              </a:rPr>
              <a:t>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0000" y="38072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Calibri"/>
              </a:rPr>
              <a:t>Place words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000" y="38072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Calibri"/>
              </a:rPr>
              <a:t>Loss/find share a building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0000" y="38072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Calibri"/>
              </a:rPr>
              <a:t>Campus geography hint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457200"/>
            <a:ext cx="10668000" cy="9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000" y="47072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Calibri"/>
              </a:rPr>
              <a:t>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0000" y="47072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Calibri"/>
              </a:rPr>
              <a:t>Event proximity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000" y="47072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Calibri"/>
              </a:rPr>
              <a:t>Same-week events fit better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0000" y="47072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Calibri"/>
              </a:rPr>
              <a:t>Decays outside 14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Calibri"/>
              </a:rPr>
              <a:t>Data &amp; Request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0000"/>
            <a:ext cx="10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96579"/>
                </a:solidFill>
                <a:latin typeface="Calibri"/>
              </a:rPr>
              <a:t>A campus tool is only as good as its validated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4953000" cy="20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4916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6B5A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5800" y="1551600"/>
            <a:ext cx="4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Calibri"/>
              </a:rPr>
              <a:t>Validate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071600"/>
            <a:ext cx="46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Zod schemas check enums, emails, dates, and upload types before persistence.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0" y="1371600"/>
            <a:ext cx="4953000" cy="20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8400" y="14916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6B5A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000" y="1551600"/>
            <a:ext cx="4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Calibri"/>
              </a:rPr>
              <a:t>Choose Status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2071600"/>
            <a:ext cx="46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Reports start pending; only approved items appear on public browse.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657600"/>
            <a:ext cx="4953000" cy="20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7776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6B5A"/>
                </a:solidFill>
                <a:latin typeface="Calibr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5800" y="3837600"/>
            <a:ext cx="4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Calibri"/>
              </a:rPr>
              <a:t>Seed vs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357600"/>
            <a:ext cx="46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npm run seed upserts fictional demo data; live demos use the same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3657600"/>
            <a:ext cx="4953000" cy="20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8400" y="37776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6B5A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000" y="3837600"/>
            <a:ext cx="4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Calibri"/>
              </a:rPr>
              <a:t>Bound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8400" y="4357600"/>
            <a:ext cx="46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Match candidates are limited by type, status, category/date window, and caps.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0000"/>
            <a:ext cx="9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Calibri"/>
              </a:rPr>
              <a:t>Approaches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0000"/>
            <a:ext cx="10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96579"/>
                </a:solidFill>
                <a:latin typeface="Calibri"/>
              </a:rPr>
              <a:t>Three ways to build campus recovery tools, in plain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3200400" cy="40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5240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6B5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133600"/>
            <a:ext cx="2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Calibri"/>
              </a:rPr>
              <a:t>Plain Public CRUD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048000"/>
            <a:ext cx="2800000" cy="2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Anyone posts listings immediately. Easy to build, weak on spam and proof privacy.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91000" y="1371600"/>
            <a:ext cx="3200400" cy="40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240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6B5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133600"/>
            <a:ext cx="2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Calibri"/>
              </a:rPr>
              <a:t>Moderation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048000"/>
            <a:ext cx="2800000" cy="2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Admin approves posts, but no structured matching or claim workflow.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96200" y="1371600"/>
            <a:ext cx="3200400" cy="4000000"/>
          </a:xfrm>
          <a:prstGeom prst="rect">
            <a:avLst/>
          </a:prstGeom>
          <a:solidFill>
            <a:srgbClr val="1F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8600" y="15240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8600" y="2133600"/>
            <a:ext cx="2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FindIt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8600" y="3048000"/>
            <a:ext cx="2800000" cy="2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2D5E0"/>
                </a:solidFill>
                <a:latin typeface="Calibri"/>
              </a:rPr>
              <a:t>Moderated listings + explainable matches + private claims. Used in this project.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0000"/>
            <a:ext cx="9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72033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0000"/>
            <a:ext cx="3200400" cy="20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1450000"/>
            <a:ext cx="2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6B5A"/>
                </a:solidFill>
                <a:latin typeface="Calibri"/>
              </a:rPr>
              <a:t>Next.js /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05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App Router interface, TypeScript, Tailwind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0" y="1200000"/>
            <a:ext cx="3200400" cy="20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450000"/>
            <a:ext cx="2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6B5A"/>
                </a:solidFill>
                <a:latin typeface="Calibri"/>
              </a:rPr>
              <a:t>Express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05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REST API with controllers, services, repositories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6200" y="1200000"/>
            <a:ext cx="3200400" cy="20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8600" y="1450000"/>
            <a:ext cx="2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6B5A"/>
                </a:solidFill>
                <a:latin typeface="Calibri"/>
              </a:rPr>
              <a:t>MongoDB / Mongoose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8600" y="205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Document persistence and indexes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600000"/>
            <a:ext cx="3200400" cy="20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850000"/>
            <a:ext cx="2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6B5A"/>
                </a:solidFill>
                <a:latin typeface="Calibri"/>
              </a:rPr>
              <a:t>Zod / RHF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45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Request and form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1000" y="3600000"/>
            <a:ext cx="3200400" cy="20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3850000"/>
            <a:ext cx="2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6B5A"/>
                </a:solidFill>
                <a:latin typeface="Calibri"/>
              </a:rPr>
              <a:t>Vitest / Supertest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45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Automated API tests in-memory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96200" y="3600000"/>
            <a:ext cx="3200400" cy="20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8600" y="3850000"/>
            <a:ext cx="2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6B5A"/>
                </a:solidFill>
                <a:latin typeface="Calibri"/>
              </a:rPr>
              <a:t>HTTP-only cookie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8600" y="445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Session auth without localStorage tokens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0000"/>
            <a:ext cx="9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0000"/>
            <a:ext cx="10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96579"/>
                </a:solidFill>
                <a:latin typeface="Calibri"/>
              </a:rPr>
              <a:t>Three clearly separated layers keep the app simple to build and explain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00000"/>
            <a:ext cx="3200400" cy="32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5500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6B5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100000"/>
            <a:ext cx="2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2033"/>
                </a:solidFill>
                <a:latin typeface="Calibri"/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700000"/>
            <a:ext cx="2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Next.js pages and forms call /backend with credentials.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91000" y="1400000"/>
            <a:ext cx="3200400" cy="32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500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6B5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100000"/>
            <a:ext cx="2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2033"/>
                </a:solidFill>
                <a:latin typeface="Calibri"/>
              </a:rP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700000"/>
            <a:ext cx="2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Express validates, authorises, and applies claim/match rules.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96200" y="1400000"/>
            <a:ext cx="3200400" cy="32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8600" y="15500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6B5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8600" y="2100000"/>
            <a:ext cx="2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2033"/>
                </a:solidFill>
                <a:latin typeface="Calibri"/>
              </a:rP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8600" y="2700000"/>
            <a:ext cx="2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Repositories talk to MongoDB; browser never sees the URI.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00000"/>
            <a:ext cx="10668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96579"/>
                </a:solidFill>
                <a:latin typeface="Calibri"/>
              </a:rPr>
              <a:t>Design principle: keeping UI, rules, and persistence separate makes each part easy to test and keeps demos reliable.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Calibri"/>
              </a:rPr>
              <a:t>Live App Demo: Browse &amp;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00000"/>
            <a:ext cx="6200000" cy="45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00000"/>
            <a:ext cx="56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172033"/>
                </a:solidFill>
                <a:latin typeface="Calibri"/>
              </a:rPr>
              <a:t>Home shows approved lost / found / resolved counts.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72033"/>
                </a:solidFill>
                <a:latin typeface="Calibri"/>
              </a:rPr>
              <a:t>Browse filters by type, category, location, and date.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72033"/>
                </a:solidFill>
                <a:latin typeface="Calibri"/>
              </a:rPr>
              <a:t>Report form creates a pending item (optional image).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72033"/>
                </a:solidFill>
                <a:latin typeface="Calibri"/>
              </a:rPr>
              <a:t>Pending reports stay off public browse until approved.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0000" y="1100000"/>
            <a:ext cx="3950000" cy="4500000"/>
          </a:xfrm>
          <a:prstGeom prst="rect">
            <a:avLst/>
          </a:prstGeom>
          <a:solidFill>
            <a:srgbClr val="17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0" y="1300000"/>
            <a:ext cx="3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FD0C0"/>
                </a:solidFill>
                <a:latin typeface="Calibri"/>
              </a:rPr>
              <a:t>What's Happening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0" y="1900000"/>
            <a:ext cx="36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D2D5E0"/>
                </a:solidFill>
                <a:latin typeface="Calibri"/>
              </a:rPr>
              <a:t>The student lands on a searchable campus workspace instead of a chat thread.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D2D5E0"/>
                </a:solidFill>
                <a:latin typeface="Calibri"/>
              </a:rPr>
              <a:t>Creating a report is a form — not a public message dump.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Calibri"/>
              </a:rPr>
              <a:t>Live App Demo: Match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00000"/>
            <a:ext cx="6200000" cy="45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300000"/>
            <a:ext cx="56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72033"/>
                </a:solidFill>
                <a:latin typeface="Calibri"/>
              </a:rPr>
              <a:t>Open a lost earbuds report from seed data.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72033"/>
                </a:solidFill>
                <a:latin typeface="Calibri"/>
              </a:rPr>
              <a:t>The panel lists ranked found candidates.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72033"/>
                </a:solidFill>
                <a:latin typeface="Calibri"/>
              </a:rPr>
              <a:t>Each row shows a score and plain-language reasons: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72033"/>
                </a:solidFill>
                <a:latin typeface="Calibri"/>
              </a:rPr>
              <a:t>  • Same category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72033"/>
                </a:solidFill>
                <a:latin typeface="Calibri"/>
              </a:rPr>
              <a:t>  • Shared words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72033"/>
                </a:solidFill>
                <a:latin typeface="Calibri"/>
              </a:rPr>
              <a:t>  • Similar location words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72033"/>
                </a:solidFill>
                <a:latin typeface="Calibri"/>
              </a:rPr>
              <a:t>  • Days apart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72033"/>
                </a:solidFill>
                <a:latin typeface="Calibri"/>
              </a:rPr>
              <a:t>Disclaimer: heuristic estimate, not a probability.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0000" y="1100000"/>
            <a:ext cx="3950000" cy="4500000"/>
          </a:xfrm>
          <a:prstGeom prst="rect">
            <a:avLst/>
          </a:prstGeom>
          <a:solidFill>
            <a:srgbClr val="17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0" y="1300000"/>
            <a:ext cx="3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FD0C0"/>
                </a:solidFill>
                <a:latin typeface="Calibri"/>
              </a:rPr>
              <a:t>What's Happening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0" y="1900000"/>
            <a:ext cx="36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D2D5E0"/>
                </a:solidFill>
                <a:latin typeface="Calibri"/>
              </a:rPr>
              <a:t>Reviewers can see why two reports were linked before trusting a claim.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D2D5E0"/>
                </a:solidFill>
                <a:latin typeface="Calibri"/>
              </a:rPr>
              <a:t>Weak matches can still be rejected after reading the proof privately.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Calibri"/>
              </a:rPr>
              <a:t>Validation &amp; Demo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00000"/>
            <a:ext cx="10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96579"/>
                </a:solidFill>
                <a:latin typeface="Calibri"/>
              </a:rPr>
              <a:t>Checked with automated API tests and a seeded walkthrough — not ML hold-out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0000"/>
            <a:ext cx="10668000" cy="11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750000"/>
            <a:ext cx="2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6B5A"/>
                </a:solidFill>
                <a:latin typeface="Calibri"/>
              </a:rPr>
              <a:t>Vitest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0" y="1800000"/>
            <a:ext cx="7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72033"/>
                </a:solidFill>
                <a:latin typeface="Calibri"/>
              </a:rPr>
              <a:t>API behaviours covered with Supertest + in-memory MongoDB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800000"/>
            <a:ext cx="10668000" cy="11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3050000"/>
            <a:ext cx="2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6B5A"/>
                </a:solidFill>
                <a:latin typeface="Calibri"/>
              </a:rPr>
              <a:t>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0" y="3100000"/>
            <a:ext cx="7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72033"/>
                </a:solidFill>
                <a:latin typeface="Calibri"/>
              </a:rPr>
              <a:t>Public JSON omits identifying details and claim proof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100000"/>
            <a:ext cx="10668000" cy="11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" y="4350000"/>
            <a:ext cx="2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6B5A"/>
                </a:solidFill>
                <a:latin typeface="Calibri"/>
              </a:rPr>
              <a:t>Demo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0" y="4400000"/>
            <a:ext cx="7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72033"/>
                </a:solidFill>
                <a:latin typeface="Calibri"/>
              </a:rPr>
              <a:t>Seed → match → claim → resolve works end-to-end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Calibri"/>
              </a:rPr>
              <a:t>Which Signal Matters Most?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00000"/>
            <a:ext cx="9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96579"/>
                </a:solidFill>
                <a:latin typeface="Calibri"/>
              </a:rPr>
              <a:t>Default FindIt match weights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00000"/>
            <a:ext cx="5000000" cy="40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700000"/>
            <a:ext cx="45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1F6B5A"/>
                </a:solidFill>
                <a:latin typeface="Calibri"/>
              </a:rPr>
              <a:t>≈70%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600000"/>
            <a:ext cx="45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72033"/>
                </a:solidFill>
                <a:latin typeface="Calibri"/>
              </a:rPr>
              <a:t>of the default weight sits on category + text overlap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0000" y="1600000"/>
            <a:ext cx="45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172033"/>
                </a:solidFill>
                <a:latin typeface="Calibri"/>
              </a:rPr>
              <a:t>Category ≈ 35%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72033"/>
                </a:solidFill>
                <a:latin typeface="Calibri"/>
              </a:rPr>
              <a:t>Text ≈ 35%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72033"/>
                </a:solidFill>
                <a:latin typeface="Calibri"/>
              </a:rPr>
              <a:t>Location ≈ 15%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72033"/>
                </a:solidFill>
                <a:latin typeface="Calibri"/>
              </a:rPr>
              <a:t>Date ≈ 15%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72033"/>
                </a:solidFill>
                <a:latin typeface="Calibri"/>
              </a:rPr>
              <a:t>Minimum score to show: 0.35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0000"/>
            <a:ext cx="9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Calibri"/>
              </a:rPr>
              <a:t>Sample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00000"/>
            <a:ext cx="10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96579"/>
                </a:solidFill>
                <a:latin typeface="Calibri"/>
              </a:rPr>
              <a:t>The exact seeded scenario used in the demo, and what the system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0000"/>
            <a:ext cx="2500000" cy="22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5800" y="17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6B5A"/>
                </a:solidFill>
                <a:latin typeface="Calibri"/>
              </a:rPr>
              <a:t>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5800" y="2400000"/>
            <a:ext cx="22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Demo students + earbuds reports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500000"/>
            <a:ext cx="2500000" cy="2200000"/>
          </a:xfrm>
          <a:prstGeom prst="rect">
            <a:avLst/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9000" y="17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6B5A"/>
                </a:solidFill>
                <a:latin typeface="Calibri"/>
              </a:rPr>
              <a:t>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9000" y="2400000"/>
            <a:ext cx="22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Lost ↔ found with reasons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500000"/>
            <a:ext cx="2500000" cy="22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2200" y="17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6B5A"/>
                </a:solidFill>
                <a:latin typeface="Calibri"/>
              </a:rPr>
              <a:t>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2200" y="2400000"/>
            <a:ext cx="22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Proof visible to reviewers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1500000"/>
            <a:ext cx="2500000" cy="2200000"/>
          </a:xfrm>
          <a:prstGeom prst="rect">
            <a:avLst/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5400" y="17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6B5A"/>
                </a:solidFill>
                <a:latin typeface="Calibri"/>
              </a:rPr>
              <a:t>Resolve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5400" y="2400000"/>
            <a:ext cx="22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Item marked resolved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200000"/>
            <a:ext cx="10668000" cy="1500000"/>
          </a:xfrm>
          <a:prstGeom prst="rect">
            <a:avLst/>
          </a:prstGeom>
          <a:solidFill>
            <a:srgbClr val="17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000" y="4400000"/>
            <a:ext cx="4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9FD0C0"/>
                </a:solidFill>
                <a:latin typeface="Calibri"/>
              </a:rPr>
              <a:t>Predicted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00" y="4850000"/>
            <a:ext cx="10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 recoverable campus loop: searchable listings, explainable matches, moderated claims — not financial advice, not a chat dump.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00000"/>
            <a:ext cx="5200000" cy="45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0" y="1100000"/>
            <a:ext cx="5200000" cy="4500000"/>
          </a:xfrm>
          <a:prstGeom prst="rect">
            <a:avLst/>
          </a:prstGeom>
          <a:solidFill>
            <a:srgbClr val="F7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30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6B5A"/>
                </a:solidFill>
                <a:latin typeface="Calibri"/>
              </a:rPr>
              <a:t>What We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00000"/>
            <a:ext cx="46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• Full-stack FindIt with Next.js + Express + MongoDB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• Explainable match weights (35/35/15/15)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• Private claim proof + admin moderation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• Seeded demo path and automated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130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F674F"/>
                </a:solidFill>
                <a:latin typeface="Calibri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000" y="1900000"/>
            <a:ext cx="46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• Email / in-app notifications on claim review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• Map or building list for locations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• Object storage for images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• Richer administrator audit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F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00000"/>
            <a:ext cx="9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A9AEC0"/>
                </a:solidFill>
                <a:latin typeface="Calibri"/>
              </a:rPr>
              <a:t>Questions are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0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Taran Singh | 12401067    ·    Prince | 12401062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00000"/>
            <a:ext cx="9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9AEC0"/>
                </a:solidFill>
                <a:latin typeface="Calibri"/>
              </a:rPr>
              <a:t>B.Tech CSE  |  Punjabi University, Patiala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00000"/>
            <a:ext cx="9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FD0C0"/>
                </a:solidFill>
                <a:latin typeface="Calibri"/>
              </a:rPr>
              <a:t>Under the guidance of Dr. Harpreet Kaur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9AEC0"/>
                </a:solidFill>
                <a:latin typeface="Calibri"/>
              </a:rPr>
              <a:t>FindIt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A9AEC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